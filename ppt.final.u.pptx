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4" r:id="rId2"/>
    <p:sldId id="273" r:id="rId3"/>
    <p:sldId id="274" r:id="rId4"/>
    <p:sldId id="256" r:id="rId5"/>
    <p:sldId id="261" r:id="rId6"/>
    <p:sldId id="275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0AB7C7-CC3C-4AE9-91DD-26B8AE00CEC7}">
          <p14:sldIdLst>
            <p14:sldId id="264"/>
            <p14:sldId id="273"/>
            <p14:sldId id="274"/>
          </p14:sldIdLst>
        </p14:section>
        <p14:section name="Untitled Section" id="{19F30931-987C-4785-9AD7-BEBCB51CBC16}">
          <p14:sldIdLst>
            <p14:sldId id="256"/>
            <p14:sldId id="261"/>
            <p14:sldId id="275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26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3F8"/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34" autoAdjust="0"/>
  </p:normalViewPr>
  <p:slideViewPr>
    <p:cSldViewPr snapToGrid="0">
      <p:cViewPr varScale="1">
        <p:scale>
          <a:sx n="77" d="100"/>
          <a:sy n="77" d="100"/>
        </p:scale>
        <p:origin x="77" y="77"/>
      </p:cViewPr>
      <p:guideLst>
        <p:guide orient="horz" pos="2160"/>
        <p:guide orient="horz" pos="22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8:28:01.3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21726,'51'249'0,"3046"-249"0,-3149-249 0,-3044 249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8:28:12.0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3615 527 4915,'-829'0'10993,"818"-1"-10776,1 0 0,-1-1 0,1 0 0,-21-7 0,21 6-38,-1 0 1,0 0-1,0 1 0,-19-2 1,-119 12 1956,4 0-445,121-7-1370,1 2 0,-1 0 0,-39 11 1,39-7-339,0-2 1,-1-1 0,-34 2 0,13-3 16,-48 8 0,-39 2 0,26-11 0,-153 7 0,79-2 0,-17 1 0,67 5 0,-113 6 0,102-6 0,133-13-18,-12 1 31,1-1 1,-33-5-1,46 3-89,0 1 0,0-1 0,0-1 0,0 1 0,0-1-1,0-1 1,1 1 0,-1-1 0,1 0 0,-9-8 0,-1-2-190,2 0 0,0 0 0,1-2 0,0 1 0,2-2 0,0 0 0,0 0 0,2-1 0,0 0 0,1 0 0,1-1 1,0 0-1,-6-34 0,13 48 190,0 1 0,1-1 0,-1 0 0,1 0 0,0 0 0,0 0 0,0 1 0,0-1 0,1 0 0,0 1 0,0-1 0,0 1 0,1 0 0,0 0 0,-1 0 0,1 0 0,1 0 0,-1 0 0,0 1 0,1 0 0,8-6 0,0-1-159,1 1 0,1 1 0,0 0 0,0 1 1,25-10-1,125-33-1234,-93 29 1335,-43 8 353,-25 4-129,-15-2-302,-17-2 367,0 0 1,0 2 0,-2 2-1,1 0 1,-1 2-1,0 2 1,-41-3-1,36 6 176,1 2 0,0 1 0,-63 10-1,95-10-284,0 0 0,0 1 0,0-1 0,0 0 0,1 1 0,-1 0-1,1-1 1,-1 1 0,1 0 0,0 1 0,0-1 0,-1 0 0,2 0-1,-1 1 1,-2 3 0,-24 47 389,16-28-271,6-13-75,-1 0-1,1 0 0,1 1 0,0 0 1,1 0-1,1 0 0,0 1 0,0-1 1,1 1-1,1 0 0,1 21 0,0-22 57,1 0-1,0-1 0,6 25 0,-5-32-84,0 0 0,0-1 0,0 1 0,1-1 0,-1 1 0,1-1 0,0 0 0,0 0 0,1 0 0,-1-1-1,1 1 1,8 5 0,0 0 68,2 0-1,0-1 0,0 0 0,0-1 0,1-1 0,0 0 0,0-1 0,22 4 0,-6-4 134,0-2 0,1 0 0,40-4-1,-1 0 190,-2 0-363,122-17-1,-125 8-86,0 2 0,1 3 0,91 5 0,-86 6 0,35 2 0,-42-10 0,-1-3 0,101-19 0,137-27 0,-113 36 0,227 11 0,-223 6 0,-122-4 0,82 4 0,-127 3 0,1 0 0,-1 2 0,-1 1 0,1 1 0,24 13 0,-13-6 0,41 11 0,30 3 0,127 32 0,-155-43 0,-68-17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09F46-2C36-4096-9989-F0017A4D99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57441-E4BC-40DF-9033-633037536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90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6506-BDC3-B1F6-446C-3F5CACA06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B313B-DBFE-E302-E642-6344C94FF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4C86A-60D4-EA8D-66C3-A4514698C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D008-628E-6423-7441-156762C7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2013-127E-A3E9-CB27-E0D54A8B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0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23C4-706D-B0DC-9BFB-8DB61DA2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DA148-D51B-FC8C-F267-11F09BE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1E4AF-2B53-EE6A-FA91-3061851E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A4CA2-9270-F410-E565-2179CAD06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EB766-16EF-2249-63A0-4D88EFE6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6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1576-A461-C2F5-4363-C75307409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3A154-7E5C-0F6D-8889-249716F55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3CA5D-8CA5-D4D2-9398-5932C662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1B4B-564E-5D42-999E-73900F24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E540A-B65C-BE78-F5FD-7293EE23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36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408C-4DC5-2D95-A1B9-0C1A3D7B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CF159-68CE-EE74-053C-AD02688E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11547-B538-E2E5-3DA6-EF925C123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2D20B-2524-9408-49FB-32BA7B27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585D0-1499-8751-2EF7-58B3913C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6DB37-0B70-D210-8597-2F2D9C70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4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7531-52D9-3FD1-AD76-CA2576603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BC7C8-23E9-3130-A606-0ECCE2F0A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212E0-B4A2-07C9-095C-10A124B98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A226C-26F3-E0FE-19AC-934C2D582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E710F-571A-7CC9-3B0E-E3BF10FCD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40699-ED18-2F71-69C5-2A29DC55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601BF-8A10-FE64-DD75-11CB28D8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01060-546D-3D9A-FD3A-8C5C0563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13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967C-01B3-AC56-A0F8-03DA15CE1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6CA2DA-52EE-71BE-3666-786210DFB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80D70-D86A-FA31-3614-F54B2808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43590-1577-D469-9A96-BFD82124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7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AA77E1-23AB-8205-6C29-156C2E64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7F26E-09EC-3E71-CD9B-87185C10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C29B-AD66-9454-6724-6ECEBB53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72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95C7-D082-D424-E5F4-9EE1C9D8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006A-2461-B2F6-7586-84335EDC3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E6DEF-36CD-B350-23C0-021C50CE0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ABDF6-BC91-14A8-1DD8-BF09A126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77DB4-9F28-4F66-8F98-433E6A32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FD06F-0E0A-E71D-D17F-C5E9C416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96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9709A-297B-8FAB-B13A-1BB3FEED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1D88A-FFDE-AB95-6B79-3C8801964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636B0-639C-AA33-F4CD-3DDEFAA9C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43E6B-67FC-B36D-AE6C-6746D340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2055F-D2E1-4593-C95B-4E410D71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25B77-F348-178F-F718-F4CD6153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99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8CC1-68B1-B447-A457-77C86CDB2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1A028-5410-5890-A585-D51A4FA94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1047C-D823-8705-B121-2699C252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18980-1DB3-951D-724A-7514B341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3E487-9401-6E8F-8B79-F61949459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62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48690-FE34-BF59-F1DC-7C5BDFACA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2D0BD-FE8A-BED1-EC7C-5D2073031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9FCEF-9565-545A-CA62-3C24F84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B3D2-9214-2163-1EDB-511B4CED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B59D-3B3D-BD4A-7F25-72F82AE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14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25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7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53241-00AB-21B0-362E-02C95DED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B00D4-780B-4FF6-EF91-E1F23E96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E1451-9AFA-1B6B-4937-ADD25A03F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37734-4B3B-4818-A374-47F6A9D33CC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E584-D4D4-6DDA-06D3-F718301B9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02108-A484-1550-6544-27962AA9D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78CEC-EEF1-4BC3-B992-941BB1D01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97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5" descr="KLEIT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32361" y="479204"/>
            <a:ext cx="1119187" cy="877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Rectangle 15"/>
          <p:cNvSpPr>
            <a:spLocks noChangeArrowheads="1"/>
          </p:cNvSpPr>
          <p:nvPr/>
        </p:nvSpPr>
        <p:spPr bwMode="auto">
          <a:xfrm>
            <a:off x="0" y="49530"/>
            <a:ext cx="182880" cy="3581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048586" name="Rectangle 16"/>
          <p:cNvSpPr>
            <a:spLocks noChangeArrowheads="1"/>
          </p:cNvSpPr>
          <p:nvPr/>
        </p:nvSpPr>
        <p:spPr bwMode="auto">
          <a:xfrm>
            <a:off x="609600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048587" name="Rectangle 17"/>
          <p:cNvSpPr>
            <a:spLocks noChangeArrowheads="1"/>
          </p:cNvSpPr>
          <p:nvPr/>
        </p:nvSpPr>
        <p:spPr bwMode="auto">
          <a:xfrm>
            <a:off x="2090058" y="-68898"/>
            <a:ext cx="6977030" cy="240065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KLE’S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I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Communication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</a:t>
            </a:r>
            <a:endParaRPr lang="zh-CN" altLang="en-US" dirty="0"/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588" name="Rectangle 18"/>
          <p:cNvSpPr>
            <a:spLocks noChangeArrowheads="1"/>
          </p:cNvSpPr>
          <p:nvPr/>
        </p:nvSpPr>
        <p:spPr bwMode="auto">
          <a:xfrm>
            <a:off x="2700626" y="1030699"/>
            <a:ext cx="5967513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K. L. E. INSTITUTE OF TECHNOLOGY,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HUBBALLI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589" name="TextBox 22"/>
          <p:cNvSpPr txBox="1"/>
          <p:nvPr/>
        </p:nvSpPr>
        <p:spPr>
          <a:xfrm>
            <a:off x="920473" y="4819316"/>
            <a:ext cx="3560307" cy="79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Mrs. </a:t>
            </a:r>
            <a:r>
              <a:rPr lang="en-US" sz="16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Safalliya</a:t>
            </a:r>
            <a:endParaRPr lang="en-US" sz="1600" b="1" dirty="0"/>
          </a:p>
        </p:txBody>
      </p:sp>
      <p:sp>
        <p:nvSpPr>
          <p:cNvPr id="1048590" name="TextBox 25"/>
          <p:cNvSpPr txBox="1"/>
          <p:nvPr/>
        </p:nvSpPr>
        <p:spPr>
          <a:xfrm>
            <a:off x="5923722" y="3945304"/>
            <a:ext cx="54121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algn="ctr"/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just"/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T K SAI RENU           		       2KE23EC169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SHIVANAND SURESH MADAR           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2KE23EC135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SUSWIT S LIMBALKAR                       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2KE24EC413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VINAYAKUMAR B MUDENGUDI       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2KE24EC416 </a:t>
            </a:r>
            <a:endParaRPr lang="en-IN" sz="1600" dirty="0"/>
          </a:p>
        </p:txBody>
      </p:sp>
      <p:pic>
        <p:nvPicPr>
          <p:cNvPr id="209715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453" y="471805"/>
            <a:ext cx="1060174" cy="1075359"/>
          </a:xfrm>
          <a:prstGeom prst="rect">
            <a:avLst/>
          </a:prstGeom>
        </p:spPr>
      </p:pic>
      <p:sp>
        <p:nvSpPr>
          <p:cNvPr id="1048591" name="Title 3"/>
          <p:cNvSpPr>
            <a:spLocks noGrp="1"/>
          </p:cNvSpPr>
          <p:nvPr>
            <p:ph type="title"/>
          </p:nvPr>
        </p:nvSpPr>
        <p:spPr>
          <a:xfrm>
            <a:off x="989462" y="2403789"/>
            <a:ext cx="10515600" cy="1630932"/>
          </a:xfrm>
        </p:spPr>
        <p:txBody>
          <a:bodyPr>
            <a:normAutofit fontScale="90000"/>
          </a:bodyPr>
          <a:lstStyle/>
          <a:p>
            <a:pPr indent="45720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dirty="0"/>
              <a:t>                        </a:t>
            </a:r>
            <a:br>
              <a:rPr lang="en-US" dirty="0"/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br>
              <a:rPr lang="en-US" sz="2700" dirty="0"/>
            </a:b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IoT-Based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Helmet with Accident Detection and</a:t>
            </a: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 Tracking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299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0573E9-4920-47B6-EB1D-59BF4D82B98C}"/>
              </a:ext>
            </a:extLst>
          </p:cNvPr>
          <p:cNvSpPr txBox="1"/>
          <p:nvPr/>
        </p:nvSpPr>
        <p:spPr>
          <a:xfrm>
            <a:off x="2780472" y="481257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F4864-C703-4B64-2C39-A2107F09E3FF}"/>
              </a:ext>
            </a:extLst>
          </p:cNvPr>
          <p:cNvSpPr txBox="1"/>
          <p:nvPr/>
        </p:nvSpPr>
        <p:spPr>
          <a:xfrm>
            <a:off x="434835" y="1694479"/>
            <a:ext cx="10706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Road accidents are a major concern worldwide, especially for two-wheeler riders.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B2A62-E4F0-B656-E658-1EA46D51038D}"/>
              </a:ext>
            </a:extLst>
          </p:cNvPr>
          <p:cNvSpPr txBox="1"/>
          <p:nvPr/>
        </p:nvSpPr>
        <p:spPr>
          <a:xfrm>
            <a:off x="405017" y="2251719"/>
            <a:ext cx="9245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address these issues, we have designed a smart helmet using </a:t>
            </a:r>
            <a:r>
              <a:rPr lang="en-US" b="1" dirty="0"/>
              <a:t>Internet of Things (IoT)</a:t>
            </a:r>
            <a:r>
              <a:rPr lang="en-US" dirty="0"/>
              <a:t> technology. This helmet not only ensures rider safety but also detects accidents in real-time.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E672D-315E-8198-26AE-A4A36D0396BA}"/>
              </a:ext>
            </a:extLst>
          </p:cNvPr>
          <p:cNvSpPr txBox="1"/>
          <p:nvPr/>
        </p:nvSpPr>
        <p:spPr>
          <a:xfrm>
            <a:off x="385141" y="2937518"/>
            <a:ext cx="9534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case of an accident, it automatically sends the rider’s location to emergency contacts, helping provide quick medical support.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95A6B-32E5-95E7-76DC-3996EFE37998}"/>
              </a:ext>
            </a:extLst>
          </p:cNvPr>
          <p:cNvSpPr txBox="1"/>
          <p:nvPr/>
        </p:nvSpPr>
        <p:spPr>
          <a:xfrm>
            <a:off x="405017" y="3802222"/>
            <a:ext cx="9822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Our system aims to enhance road safety, reduce accident fatalities, and promote responsible riding habits through smart technology.</a:t>
            </a:r>
          </a:p>
        </p:txBody>
      </p:sp>
    </p:spTree>
    <p:extLst>
      <p:ext uri="{BB962C8B-B14F-4D97-AF65-F5344CB8AC3E}">
        <p14:creationId xmlns:p14="http://schemas.microsoft.com/office/powerpoint/2010/main" val="298811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924905-890D-4B0D-2BAE-FE6025EDE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976755"/>
              </p:ext>
            </p:extLst>
          </p:nvPr>
        </p:nvGraphicFramePr>
        <p:xfrm>
          <a:off x="0" y="758064"/>
          <a:ext cx="12192000" cy="609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883">
                  <a:extLst>
                    <a:ext uri="{9D8B030D-6E8A-4147-A177-3AD203B41FA5}">
                      <a16:colId xmlns:a16="http://schemas.microsoft.com/office/drawing/2014/main" val="356251206"/>
                    </a:ext>
                  </a:extLst>
                </a:gridCol>
                <a:gridCol w="2973913">
                  <a:extLst>
                    <a:ext uri="{9D8B030D-6E8A-4147-A177-3AD203B41FA5}">
                      <a16:colId xmlns:a16="http://schemas.microsoft.com/office/drawing/2014/main" val="3306051268"/>
                    </a:ext>
                  </a:extLst>
                </a:gridCol>
                <a:gridCol w="2273945">
                  <a:extLst>
                    <a:ext uri="{9D8B030D-6E8A-4147-A177-3AD203B41FA5}">
                      <a16:colId xmlns:a16="http://schemas.microsoft.com/office/drawing/2014/main" val="1573650268"/>
                    </a:ext>
                  </a:extLst>
                </a:gridCol>
                <a:gridCol w="3623904">
                  <a:extLst>
                    <a:ext uri="{9D8B030D-6E8A-4147-A177-3AD203B41FA5}">
                      <a16:colId xmlns:a16="http://schemas.microsoft.com/office/drawing/2014/main" val="2284764857"/>
                    </a:ext>
                  </a:extLst>
                </a:gridCol>
                <a:gridCol w="2690355">
                  <a:extLst>
                    <a:ext uri="{9D8B030D-6E8A-4147-A177-3AD203B41FA5}">
                      <a16:colId xmlns:a16="http://schemas.microsoft.com/office/drawing/2014/main" val="2654489221"/>
                    </a:ext>
                  </a:extLst>
                </a:gridCol>
              </a:tblGrid>
              <a:tr h="6448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Sl. No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Title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Author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Key findings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Publishing</a:t>
                      </a:r>
                    </a:p>
                    <a:p>
                      <a:pPr algn="ctr"/>
                      <a:r>
                        <a:rPr lang="en-US" sz="1800" dirty="0"/>
                        <a:t>details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619255"/>
                  </a:ext>
                </a:extLst>
              </a:tr>
              <a:tr h="14911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[1]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Konnect: IoT Smart Helmet (2016)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Sreenithy Chandran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Sneha Chandrasekar</a:t>
                      </a:r>
                      <a:endParaRPr lang="en-IN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The </a:t>
                      </a:r>
                      <a:r>
                        <a:rPr lang="en-US" sz="1600" b="0" i="1" dirty="0"/>
                        <a:t>Konnect IoT Smart Helmet (2016)</a:t>
                      </a:r>
                      <a:r>
                        <a:rPr lang="en-US" sz="1600" b="0" dirty="0"/>
                        <a:t> detects accidents using sensors and automatically sends the rider’s GPS location to emergency contacts through a wireless system</a:t>
                      </a:r>
                      <a:r>
                        <a:rPr lang="en-US" sz="1600" dirty="0"/>
                        <a:t>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December 2016</a:t>
                      </a:r>
                    </a:p>
                    <a:p>
                      <a:r>
                        <a:rPr lang="en-US" sz="1600" b="0" dirty="0"/>
                        <a:t>Place: Bangalore, India</a:t>
                      </a:r>
                      <a:endParaRPr lang="en-IN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29622"/>
                  </a:ext>
                </a:extLst>
              </a:tr>
              <a:tr h="13204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[2]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Smart Helmet for Accident Detection using IoT (Review Paper, 2019) 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H.C. Impana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H.T. Chethana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/>
                        <a:t>IoT smart helmets use sensors (accelerometer, vibration, GPS, GSM) for accident detection. They provide real-time accident detection and location tracking.</a:t>
                      </a:r>
                      <a:endParaRPr lang="en-IN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EAI Endorsed Transactions on Internet of Things.</a:t>
                      </a:r>
                    </a:p>
                    <a:p>
                      <a:r>
                        <a:rPr lang="en-US" sz="1600" b="0" dirty="0"/>
                        <a:t>October (30 October 2019)</a:t>
                      </a:r>
                      <a:endParaRPr lang="en-IN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821681"/>
                  </a:ext>
                </a:extLst>
              </a:tr>
              <a:tr h="13569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[3]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IoT-Based Smart Helmet &amp; Accident Identification System (2020)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Abid Hasan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Ishman Rahman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Proposes an IoT-enabled smart helmet for accident detection.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Uses accelerometer sensor to identify crash impact.</a:t>
                      </a: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5 June 2020</a:t>
                      </a:r>
                      <a:endParaRPr lang="en-IN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842979"/>
                  </a:ext>
                </a:extLst>
              </a:tr>
              <a:tr h="12865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[4]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IoT-Based Smart Helmet for Real-Time Crash Detection (2025)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Mustafa Al-Sheikh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Introduces real-time crash detection system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Uses IoT for continuous monitoring </a:t>
                      </a: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IEEE/IoT research </a:t>
                      </a:r>
                    </a:p>
                    <a:p>
                      <a:r>
                        <a:rPr lang="en-US" dirty="0"/>
                        <a:t>October 2025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2559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F087BE1-CCF7-92C0-A68A-FBB0B5E772CB}"/>
              </a:ext>
            </a:extLst>
          </p:cNvPr>
          <p:cNvSpPr txBox="1"/>
          <p:nvPr/>
        </p:nvSpPr>
        <p:spPr>
          <a:xfrm>
            <a:off x="4470124" y="133386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Literature survey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366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4D787F7-6767-970C-8149-66DB2852FF9A}"/>
              </a:ext>
            </a:extLst>
          </p:cNvPr>
          <p:cNvSpPr txBox="1"/>
          <p:nvPr/>
        </p:nvSpPr>
        <p:spPr>
          <a:xfrm>
            <a:off x="2460761" y="461377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B5AC5EE-62B4-D4E8-D618-C6D08497FBB1}"/>
                  </a:ext>
                </a:extLst>
              </p14:cNvPr>
              <p14:cNvContentPartPr/>
              <p14:nvPr/>
            </p14:nvContentPartPr>
            <p14:xfrm>
              <a:off x="10950443" y="6497916"/>
              <a:ext cx="1133874" cy="90168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B5AC5EE-62B4-D4E8-D618-C6D08497FB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87790" y="6434798"/>
                <a:ext cx="1259540" cy="216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8EAFA69-8DF1-C10A-261F-FC96584514D7}"/>
                  </a:ext>
                </a:extLst>
              </p14:cNvPr>
              <p14:cNvContentPartPr/>
              <p14:nvPr/>
            </p14:nvContentPartPr>
            <p14:xfrm>
              <a:off x="10753280" y="6521040"/>
              <a:ext cx="1301760" cy="235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8EAFA69-8DF1-C10A-261F-FC96584514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90640" y="6458400"/>
                <a:ext cx="1427400" cy="3614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2DB41E2-B2F3-2720-371D-9990217ED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095" y="1509571"/>
            <a:ext cx="8110331" cy="405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helmet system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technology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microcontroller (Arduino/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NodeMCU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control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 sensor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whether helmet is worn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Accelerometer sensor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monitors impact and motion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 detected when values exceed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 limit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retrieves real-time location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sends alert message with location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sent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contacts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activated during accident detection </a:t>
            </a:r>
          </a:p>
        </p:txBody>
      </p:sp>
    </p:spTree>
    <p:extLst>
      <p:ext uri="{BB962C8B-B14F-4D97-AF65-F5344CB8AC3E}">
        <p14:creationId xmlns:p14="http://schemas.microsoft.com/office/powerpoint/2010/main" val="94224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BA45F9-CFD5-79CF-D2D0-AC056EA52FA8}"/>
              </a:ext>
            </a:extLst>
          </p:cNvPr>
          <p:cNvSpPr txBox="1"/>
          <p:nvPr/>
        </p:nvSpPr>
        <p:spPr>
          <a:xfrm>
            <a:off x="10703859" y="6357769"/>
            <a:ext cx="1387736" cy="419549"/>
          </a:xfrm>
          <a:prstGeom prst="rect">
            <a:avLst/>
          </a:prstGeom>
          <a:solidFill>
            <a:srgbClr val="FBFCFE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E98C2-11A4-DD58-0DD5-6EB225147763}"/>
              </a:ext>
            </a:extLst>
          </p:cNvPr>
          <p:cNvSpPr txBox="1"/>
          <p:nvPr/>
        </p:nvSpPr>
        <p:spPr>
          <a:xfrm>
            <a:off x="10703859" y="6113731"/>
            <a:ext cx="927702" cy="369332"/>
          </a:xfrm>
          <a:prstGeom prst="rect">
            <a:avLst/>
          </a:prstGeom>
          <a:solidFill>
            <a:srgbClr val="F1F3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FC96316-E508-6DE3-D192-A93E8C87A188}"/>
              </a:ext>
            </a:extLst>
          </p:cNvPr>
          <p:cNvSpPr/>
          <p:nvPr/>
        </p:nvSpPr>
        <p:spPr>
          <a:xfrm>
            <a:off x="3636500" y="397524"/>
            <a:ext cx="4424065" cy="3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42"/>
              </a:lnSpc>
            </a:pPr>
            <a:r>
              <a:rPr lang="en-US" sz="2400" dirty="0"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Flow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38AE1A-74C1-FB3A-9DE2-C47DB113F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313" y="1154269"/>
            <a:ext cx="8119807" cy="495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2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A144A1-2992-4396-C0D5-3A2E58C2AEE8}"/>
              </a:ext>
            </a:extLst>
          </p:cNvPr>
          <p:cNvSpPr txBox="1"/>
          <p:nvPr/>
        </p:nvSpPr>
        <p:spPr>
          <a:xfrm>
            <a:off x="2720836" y="452593"/>
            <a:ext cx="6097656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2400" dirty="0"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Block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44EC35-2EFF-96B4-4D61-F6BE8A058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38" y="1043610"/>
            <a:ext cx="8020879" cy="534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0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377C1-97FC-1F84-F2BE-804FD5D3FBDE}"/>
              </a:ext>
            </a:extLst>
          </p:cNvPr>
          <p:cNvSpPr txBox="1"/>
          <p:nvPr/>
        </p:nvSpPr>
        <p:spPr>
          <a:xfrm>
            <a:off x="4420428" y="361986"/>
            <a:ext cx="5568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Circuit Diagram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58AB9-BBB5-CE97-E250-A3636BA31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99272" y="238539"/>
            <a:ext cx="4717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9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F44BE2-7A14-2D3D-C10B-4C511EDFFDD9}"/>
              </a:ext>
            </a:extLst>
          </p:cNvPr>
          <p:cNvSpPr txBox="1"/>
          <p:nvPr/>
        </p:nvSpPr>
        <p:spPr>
          <a:xfrm>
            <a:off x="2512114" y="272533"/>
            <a:ext cx="5757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40870-2611-29F7-73AE-766A723E6F35}"/>
              </a:ext>
            </a:extLst>
          </p:cNvPr>
          <p:cNvSpPr txBox="1"/>
          <p:nvPr/>
        </p:nvSpPr>
        <p:spPr>
          <a:xfrm>
            <a:off x="1000925" y="1919558"/>
            <a:ext cx="39880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GPS</a:t>
            </a:r>
            <a:r>
              <a:rPr lang="en-US" b="1" dirty="0"/>
              <a:t> </a:t>
            </a:r>
            <a:r>
              <a:rPr lang="en-US" dirty="0"/>
              <a:t>Module (NEO-6M)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GSM Module (SIM900)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Mega Arduino 2560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MPU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Buzzer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LED 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C6240-2A10-368B-D774-05926719CACB}"/>
              </a:ext>
            </a:extLst>
          </p:cNvPr>
          <p:cNvSpPr txBox="1"/>
          <p:nvPr/>
        </p:nvSpPr>
        <p:spPr>
          <a:xfrm>
            <a:off x="1329358" y="1176995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Hardware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0004B-DE3E-6DAA-CD63-D02541035F95}"/>
              </a:ext>
            </a:extLst>
          </p:cNvPr>
          <p:cNvSpPr txBox="1"/>
          <p:nvPr/>
        </p:nvSpPr>
        <p:spPr>
          <a:xfrm>
            <a:off x="6600411" y="1115814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Software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C1E8A9-3329-637D-AF06-CD73E7E7B8E2}"/>
              </a:ext>
            </a:extLst>
          </p:cNvPr>
          <p:cNvSpPr txBox="1"/>
          <p:nvPr/>
        </p:nvSpPr>
        <p:spPr>
          <a:xfrm>
            <a:off x="6057900" y="1923534"/>
            <a:ext cx="628396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Arduino IDE</a:t>
            </a:r>
            <a:r>
              <a:rPr lang="en-US" dirty="0"/>
              <a:t> (for ESP32 / Arduino programming)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IoT Platforms (optional but useful)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Mobile Application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6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C2315-489B-D2CE-5342-D4B33BF73CD4}"/>
              </a:ext>
            </a:extLst>
          </p:cNvPr>
          <p:cNvSpPr txBox="1"/>
          <p:nvPr/>
        </p:nvSpPr>
        <p:spPr>
          <a:xfrm>
            <a:off x="4778237" y="829125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F48C83-D1D4-C48A-F464-DECD5843A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92" y="1298904"/>
            <a:ext cx="6980437" cy="322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alerts and tracking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AI/ML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accident detection accuracy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 detection sensor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prevent drunk driving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storage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logging and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services (ambulance/911 API)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GPS tracking dashboard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 rate / health monitoring sensors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704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59F455-92DF-4619-EC41-0B893CA43F68}"/>
              </a:ext>
            </a:extLst>
          </p:cNvPr>
          <p:cNvSpPr txBox="1"/>
          <p:nvPr/>
        </p:nvSpPr>
        <p:spPr>
          <a:xfrm>
            <a:off x="4718602" y="620404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08E32E-CA13-C863-1B74-2CE3B7105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96" y="1634765"/>
            <a:ext cx="11529391" cy="3642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IoT-based smart helmet system helps in improving rider safety by detecting accidents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It uses sensors like accelerometer and GPS to identify accidents and track the location.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GSM module sends alert messages to emergency contacts, which helps in quick response.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system reduces the time required to inform others during an accident.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Overall, this project provides an efficient and low-cost solution for accident detection and rider safety using IoT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CCDC8-5D2D-57DC-EADC-4348263E528F}"/>
              </a:ext>
            </a:extLst>
          </p:cNvPr>
          <p:cNvSpPr txBox="1"/>
          <p:nvPr/>
        </p:nvSpPr>
        <p:spPr>
          <a:xfrm>
            <a:off x="375202" y="4032694"/>
            <a:ext cx="5081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technology. </a:t>
            </a:r>
          </a:p>
        </p:txBody>
      </p:sp>
    </p:spTree>
    <p:extLst>
      <p:ext uri="{BB962C8B-B14F-4D97-AF65-F5344CB8AC3E}">
        <p14:creationId xmlns:p14="http://schemas.microsoft.com/office/powerpoint/2010/main" val="1830911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BE6F23-B71B-E810-8B4C-F22AEAB87BB4}"/>
              </a:ext>
            </a:extLst>
          </p:cNvPr>
          <p:cNvSpPr txBox="1"/>
          <p:nvPr/>
        </p:nvSpPr>
        <p:spPr>
          <a:xfrm>
            <a:off x="4897507" y="550830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F78D7B-4B53-33C7-CE62-608B9FD5D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122" y="912279"/>
            <a:ext cx="9741898" cy="4715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IoT-Based Smart Helmet and Accident Detection System – Research Paper (ResearchGate)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and Implementation of IoT-Based Smart Helmet – IEEE / Research Paper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on Smart Helmet for Accident Detection using IoT – Survey Paper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NEO-6M GPS Module Datasheet – u-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Official Documentation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SIM800L / SIM900 GSM Module Datasheet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SIMCom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Uno Official Documentation – Arduino.cc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MPU6050 Sensor Datasheet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InvenSense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TDK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Systems and IoT Concepts – Standard Textbooks on Embedded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760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25585-92E8-2A70-CADD-A6380CE91C11}"/>
              </a:ext>
            </a:extLst>
          </p:cNvPr>
          <p:cNvSpPr txBox="1"/>
          <p:nvPr/>
        </p:nvSpPr>
        <p:spPr>
          <a:xfrm>
            <a:off x="3130826" y="2250420"/>
            <a:ext cx="71164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dirty="0">
                <a:effectLst/>
                <a:latin typeface="Goudy Stout" panose="0202090407030B020401" pitchFamily="18" charset="0"/>
              </a:rPr>
              <a:t>thank you</a:t>
            </a:r>
            <a:endParaRPr lang="en-US" sz="4000" dirty="0">
              <a:latin typeface="Goudy Stout" panose="0202090407030B0204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465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696</Words>
  <Application>Microsoft Office PowerPoint</Application>
  <PresentationFormat>Widescreen</PresentationFormat>
  <Paragraphs>114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Goudy Stout</vt:lpstr>
      <vt:lpstr>Roboto</vt:lpstr>
      <vt:lpstr>Times New Roman</vt:lpstr>
      <vt:lpstr>Office Theme</vt:lpstr>
      <vt:lpstr>                         A Presentation on  IoT-Based Smart Helmet with Accident Detection and  Location Tracking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A Hiremath</dc:creator>
  <cp:lastModifiedBy>Shivanand Madar</cp:lastModifiedBy>
  <cp:revision>11</cp:revision>
  <dcterms:created xsi:type="dcterms:W3CDTF">2026-02-20T13:30:20Z</dcterms:created>
  <dcterms:modified xsi:type="dcterms:W3CDTF">2026-05-08T05:54:45Z</dcterms:modified>
</cp:coreProperties>
</file>